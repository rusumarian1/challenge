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7" r:id="rId2"/>
    <p:sldId id="258"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408" autoAdjust="0"/>
  </p:normalViewPr>
  <p:slideViewPr>
    <p:cSldViewPr snapToGrid="0">
      <p:cViewPr varScale="1">
        <p:scale>
          <a:sx n="81" d="100"/>
          <a:sy n="81" d="100"/>
        </p:scale>
        <p:origin x="72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145634-F65B-4946-830A-D9C779AC143D}" type="datetimeFigureOut">
              <a:rPr lang="en-US" smtClean="0"/>
              <a:t>6/20/2022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18B40C-1492-476E-9F25-725D9E850479}" type="slidenum">
              <a:rPr lang="en-US" smtClean="0"/>
              <a:t>‹#›</a:t>
            </a:fld>
            <a:endParaRPr lang="en-US"/>
          </a:p>
        </p:txBody>
      </p:sp>
    </p:spTree>
    <p:extLst>
      <p:ext uri="{BB962C8B-B14F-4D97-AF65-F5344CB8AC3E}">
        <p14:creationId xmlns:p14="http://schemas.microsoft.com/office/powerpoint/2010/main" val="3436319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18B40C-1492-476E-9F25-725D9E850479}" type="slidenum">
              <a:rPr lang="en-US" smtClean="0"/>
              <a:t>1</a:t>
            </a:fld>
            <a:endParaRPr lang="en-US"/>
          </a:p>
        </p:txBody>
      </p:sp>
    </p:spTree>
    <p:extLst>
      <p:ext uri="{BB962C8B-B14F-4D97-AF65-F5344CB8AC3E}">
        <p14:creationId xmlns:p14="http://schemas.microsoft.com/office/powerpoint/2010/main" val="2978738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DA81629-A44D-470A-BD2A-12579C07E6F5}" type="datetimeFigureOut">
              <a:rPr lang="en-US" smtClean="0"/>
              <a:t>6/19/2022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D45148-A47E-47A3-80B1-94DDBC5F68F3}" type="slidenum">
              <a:rPr lang="en-US" smtClean="0"/>
              <a:t>‹#›</a:t>
            </a:fld>
            <a:endParaRPr lang="en-US"/>
          </a:p>
        </p:txBody>
      </p:sp>
    </p:spTree>
    <p:extLst>
      <p:ext uri="{BB962C8B-B14F-4D97-AF65-F5344CB8AC3E}">
        <p14:creationId xmlns:p14="http://schemas.microsoft.com/office/powerpoint/2010/main" val="512671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DA81629-A44D-470A-BD2A-12579C07E6F5}" type="datetimeFigureOut">
              <a:rPr lang="en-US" smtClean="0"/>
              <a:t>6/19/2022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D45148-A47E-47A3-80B1-94DDBC5F68F3}" type="slidenum">
              <a:rPr lang="en-US" smtClean="0"/>
              <a:t>‹#›</a:t>
            </a:fld>
            <a:endParaRPr lang="en-US"/>
          </a:p>
        </p:txBody>
      </p:sp>
    </p:spTree>
    <p:extLst>
      <p:ext uri="{BB962C8B-B14F-4D97-AF65-F5344CB8AC3E}">
        <p14:creationId xmlns:p14="http://schemas.microsoft.com/office/powerpoint/2010/main" val="2552188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DA81629-A44D-470A-BD2A-12579C07E6F5}" type="datetimeFigureOut">
              <a:rPr lang="en-US" smtClean="0"/>
              <a:t>6/19/2022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D45148-A47E-47A3-80B1-94DDBC5F68F3}" type="slidenum">
              <a:rPr lang="en-US" smtClean="0"/>
              <a:t>‹#›</a:t>
            </a:fld>
            <a:endParaRPr lang="en-US"/>
          </a:p>
        </p:txBody>
      </p:sp>
    </p:spTree>
    <p:extLst>
      <p:ext uri="{BB962C8B-B14F-4D97-AF65-F5344CB8AC3E}">
        <p14:creationId xmlns:p14="http://schemas.microsoft.com/office/powerpoint/2010/main" val="3249749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DA81629-A44D-470A-BD2A-12579C07E6F5}" type="datetimeFigureOut">
              <a:rPr lang="en-US" smtClean="0"/>
              <a:t>6/19/2022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D45148-A47E-47A3-80B1-94DDBC5F68F3}" type="slidenum">
              <a:rPr lang="en-US" smtClean="0"/>
              <a:t>‹#›</a:t>
            </a:fld>
            <a:endParaRPr lang="en-US"/>
          </a:p>
        </p:txBody>
      </p:sp>
    </p:spTree>
    <p:extLst>
      <p:ext uri="{BB962C8B-B14F-4D97-AF65-F5344CB8AC3E}">
        <p14:creationId xmlns:p14="http://schemas.microsoft.com/office/powerpoint/2010/main" val="3779348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DA81629-A44D-470A-BD2A-12579C07E6F5}" type="datetimeFigureOut">
              <a:rPr lang="en-US" smtClean="0"/>
              <a:t>6/19/2022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D45148-A47E-47A3-80B1-94DDBC5F68F3}" type="slidenum">
              <a:rPr lang="en-US" smtClean="0"/>
              <a:t>‹#›</a:t>
            </a:fld>
            <a:endParaRPr lang="en-US"/>
          </a:p>
        </p:txBody>
      </p:sp>
    </p:spTree>
    <p:extLst>
      <p:ext uri="{BB962C8B-B14F-4D97-AF65-F5344CB8AC3E}">
        <p14:creationId xmlns:p14="http://schemas.microsoft.com/office/powerpoint/2010/main" val="3162426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DA81629-A44D-470A-BD2A-12579C07E6F5}" type="datetimeFigureOut">
              <a:rPr lang="en-US" smtClean="0"/>
              <a:t>6/19/2022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D45148-A47E-47A3-80B1-94DDBC5F68F3}" type="slidenum">
              <a:rPr lang="en-US" smtClean="0"/>
              <a:t>‹#›</a:t>
            </a:fld>
            <a:endParaRPr lang="en-US"/>
          </a:p>
        </p:txBody>
      </p:sp>
    </p:spTree>
    <p:extLst>
      <p:ext uri="{BB962C8B-B14F-4D97-AF65-F5344CB8AC3E}">
        <p14:creationId xmlns:p14="http://schemas.microsoft.com/office/powerpoint/2010/main" val="4158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A81629-A44D-470A-BD2A-12579C07E6F5}" type="datetimeFigureOut">
              <a:rPr lang="en-US" smtClean="0"/>
              <a:t>6/19/2022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D45148-A47E-47A3-80B1-94DDBC5F68F3}" type="slidenum">
              <a:rPr lang="en-US" smtClean="0"/>
              <a:t>‹#›</a:t>
            </a:fld>
            <a:endParaRPr lang="en-US"/>
          </a:p>
        </p:txBody>
      </p:sp>
    </p:spTree>
    <p:extLst>
      <p:ext uri="{BB962C8B-B14F-4D97-AF65-F5344CB8AC3E}">
        <p14:creationId xmlns:p14="http://schemas.microsoft.com/office/powerpoint/2010/main" val="3076805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DA81629-A44D-470A-BD2A-12579C07E6F5}" type="datetimeFigureOut">
              <a:rPr lang="en-US" smtClean="0"/>
              <a:t>6/19/2022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D45148-A47E-47A3-80B1-94DDBC5F68F3}" type="slidenum">
              <a:rPr lang="en-US" smtClean="0"/>
              <a:t>‹#›</a:t>
            </a:fld>
            <a:endParaRPr lang="en-US"/>
          </a:p>
        </p:txBody>
      </p:sp>
    </p:spTree>
    <p:extLst>
      <p:ext uri="{BB962C8B-B14F-4D97-AF65-F5344CB8AC3E}">
        <p14:creationId xmlns:p14="http://schemas.microsoft.com/office/powerpoint/2010/main" val="2907487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DA81629-A44D-470A-BD2A-12579C07E6F5}" type="datetimeFigureOut">
              <a:rPr lang="en-US" smtClean="0"/>
              <a:t>6/19/2022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D45148-A47E-47A3-80B1-94DDBC5F68F3}" type="slidenum">
              <a:rPr lang="en-US" smtClean="0"/>
              <a:t>‹#›</a:t>
            </a:fld>
            <a:endParaRPr lang="en-US"/>
          </a:p>
        </p:txBody>
      </p:sp>
    </p:spTree>
    <p:extLst>
      <p:ext uri="{BB962C8B-B14F-4D97-AF65-F5344CB8AC3E}">
        <p14:creationId xmlns:p14="http://schemas.microsoft.com/office/powerpoint/2010/main" val="1886090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DA81629-A44D-470A-BD2A-12579C07E6F5}" type="datetimeFigureOut">
              <a:rPr lang="en-US" smtClean="0"/>
              <a:t>6/19/2022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D45148-A47E-47A3-80B1-94DDBC5F68F3}" type="slidenum">
              <a:rPr lang="en-US" smtClean="0"/>
              <a:t>‹#›</a:t>
            </a:fld>
            <a:endParaRPr lang="en-US"/>
          </a:p>
        </p:txBody>
      </p:sp>
    </p:spTree>
    <p:extLst>
      <p:ext uri="{BB962C8B-B14F-4D97-AF65-F5344CB8AC3E}">
        <p14:creationId xmlns:p14="http://schemas.microsoft.com/office/powerpoint/2010/main" val="1623145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DA81629-A44D-470A-BD2A-12579C07E6F5}" type="datetimeFigureOut">
              <a:rPr lang="en-US" smtClean="0"/>
              <a:t>6/19/2022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D45148-A47E-47A3-80B1-94DDBC5F68F3}" type="slidenum">
              <a:rPr lang="en-US" smtClean="0"/>
              <a:t>‹#›</a:t>
            </a:fld>
            <a:endParaRPr lang="en-US"/>
          </a:p>
        </p:txBody>
      </p:sp>
    </p:spTree>
    <p:extLst>
      <p:ext uri="{BB962C8B-B14F-4D97-AF65-F5344CB8AC3E}">
        <p14:creationId xmlns:p14="http://schemas.microsoft.com/office/powerpoint/2010/main" val="2639454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A81629-A44D-470A-BD2A-12579C07E6F5}" type="datetimeFigureOut">
              <a:rPr lang="en-US" smtClean="0"/>
              <a:t>6/19/2022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D45148-A47E-47A3-80B1-94DDBC5F68F3}" type="slidenum">
              <a:rPr lang="en-US" smtClean="0"/>
              <a:t>‹#›</a:t>
            </a:fld>
            <a:endParaRPr lang="en-US"/>
          </a:p>
        </p:txBody>
      </p:sp>
    </p:spTree>
    <p:extLst>
      <p:ext uri="{BB962C8B-B14F-4D97-AF65-F5344CB8AC3E}">
        <p14:creationId xmlns:p14="http://schemas.microsoft.com/office/powerpoint/2010/main" val="83599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Autofit/>
          </a:bodyPr>
          <a:lstStyle/>
          <a:p>
            <a:r>
              <a:rPr lang="en-US" sz="3200" b="1" dirty="0" smtClean="0"/>
              <a:t>1. Case study goals</a:t>
            </a:r>
            <a:endParaRPr lang="en-US" sz="3200" b="1" dirty="0"/>
          </a:p>
        </p:txBody>
      </p:sp>
      <p:pic>
        <p:nvPicPr>
          <p:cNvPr id="12" name="Content Placeholder 1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086912" y="3334659"/>
            <a:ext cx="3655871" cy="2695575"/>
          </a:xfrm>
        </p:spPr>
      </p:pic>
      <p:sp>
        <p:nvSpPr>
          <p:cNvPr id="4" name="Title 1"/>
          <p:cNvSpPr txBox="1">
            <a:spLocks/>
          </p:cNvSpPr>
          <p:nvPr/>
        </p:nvSpPr>
        <p:spPr>
          <a:xfrm>
            <a:off x="838200" y="1021378"/>
            <a:ext cx="10515600" cy="54927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100" b="1" dirty="0" smtClean="0"/>
              <a:t>Business goal: </a:t>
            </a:r>
            <a:r>
              <a:rPr lang="en-US" sz="2100" dirty="0" smtClean="0"/>
              <a:t>predict the impact of the incident raised by the customers</a:t>
            </a:r>
            <a:r>
              <a:rPr lang="en-US" sz="2400" dirty="0" smtClean="0"/>
              <a:t>.</a:t>
            </a:r>
            <a:endParaRPr lang="en-US" sz="2400" dirty="0"/>
          </a:p>
        </p:txBody>
      </p:sp>
      <p:sp>
        <p:nvSpPr>
          <p:cNvPr id="5" name="Title 1"/>
          <p:cNvSpPr txBox="1">
            <a:spLocks/>
          </p:cNvSpPr>
          <p:nvPr/>
        </p:nvSpPr>
        <p:spPr>
          <a:xfrm>
            <a:off x="838200" y="1453698"/>
            <a:ext cx="10515600" cy="54305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smtClean="0"/>
              <a:t>POC goal: </a:t>
            </a:r>
            <a:r>
              <a:rPr lang="en-US" sz="2000" dirty="0" smtClean="0"/>
              <a:t>to build a machine learning model that predicts accurately the incidents with high impact</a:t>
            </a:r>
            <a:endParaRPr lang="en-US" sz="2000" dirty="0"/>
          </a:p>
        </p:txBody>
      </p:sp>
      <p:sp>
        <p:nvSpPr>
          <p:cNvPr id="6" name="Title 1"/>
          <p:cNvSpPr txBox="1">
            <a:spLocks/>
          </p:cNvSpPr>
          <p:nvPr/>
        </p:nvSpPr>
        <p:spPr>
          <a:xfrm>
            <a:off x="934616" y="2094397"/>
            <a:ext cx="10515600" cy="549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t>2</a:t>
            </a:r>
            <a:r>
              <a:rPr lang="en-US" sz="3200" b="1" dirty="0" smtClean="0"/>
              <a:t>. Dataset highlights*</a:t>
            </a:r>
            <a:endParaRPr lang="en-US" sz="3200" b="1" dirty="0"/>
          </a:p>
        </p:txBody>
      </p:sp>
      <p:sp>
        <p:nvSpPr>
          <p:cNvPr id="7" name="Content Placeholder 2"/>
          <p:cNvSpPr txBox="1">
            <a:spLocks/>
          </p:cNvSpPr>
          <p:nvPr/>
        </p:nvSpPr>
        <p:spPr>
          <a:xfrm>
            <a:off x="8750732" y="3334659"/>
            <a:ext cx="3043162" cy="22730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smtClean="0"/>
              <a:t>Target values percentage</a:t>
            </a:r>
            <a:r>
              <a:rPr lang="en-US" sz="1600" dirty="0" smtClean="0"/>
              <a:t>:</a:t>
            </a:r>
          </a:p>
          <a:p>
            <a:pPr marL="342900" indent="-342900">
              <a:buFont typeface="+mj-lt"/>
              <a:buAutoNum type="arabicPeriod"/>
            </a:pPr>
            <a:r>
              <a:rPr lang="en-US" sz="1600" dirty="0" smtClean="0"/>
              <a:t>High:  2.25%</a:t>
            </a:r>
          </a:p>
          <a:p>
            <a:pPr marL="342900" indent="-342900">
              <a:buFont typeface="+mj-lt"/>
              <a:buAutoNum type="arabicPeriod"/>
            </a:pPr>
            <a:r>
              <a:rPr lang="en-US" sz="1600" dirty="0" smtClean="0"/>
              <a:t>Medium: 95%</a:t>
            </a:r>
          </a:p>
          <a:p>
            <a:pPr marL="342900" indent="-342900">
              <a:buFont typeface="+mj-lt"/>
              <a:buAutoNum type="arabicPeriod"/>
            </a:pPr>
            <a:r>
              <a:rPr lang="en-US" sz="1600" dirty="0" smtClean="0"/>
              <a:t>Low: 2.75%</a:t>
            </a:r>
          </a:p>
          <a:p>
            <a:pPr marL="0" indent="0">
              <a:buNone/>
            </a:pPr>
            <a:r>
              <a:rPr lang="en-US" sz="1600" dirty="0" smtClean="0"/>
              <a:t>We deal with imbalanced classes.</a:t>
            </a:r>
          </a:p>
        </p:txBody>
      </p:sp>
      <p:sp>
        <p:nvSpPr>
          <p:cNvPr id="8" name="Title 1"/>
          <p:cNvSpPr txBox="1">
            <a:spLocks/>
          </p:cNvSpPr>
          <p:nvPr/>
        </p:nvSpPr>
        <p:spPr>
          <a:xfrm>
            <a:off x="934616" y="2791605"/>
            <a:ext cx="2806960" cy="54305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smtClean="0"/>
              <a:t>Missing values treatment</a:t>
            </a:r>
            <a:endParaRPr lang="en-US" sz="2000" dirty="0"/>
          </a:p>
        </p:txBody>
      </p:sp>
      <p:sp>
        <p:nvSpPr>
          <p:cNvPr id="9" name="Title 1"/>
          <p:cNvSpPr txBox="1">
            <a:spLocks/>
          </p:cNvSpPr>
          <p:nvPr/>
        </p:nvSpPr>
        <p:spPr>
          <a:xfrm>
            <a:off x="5388428" y="2791605"/>
            <a:ext cx="2806960" cy="54305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smtClean="0"/>
              <a:t>Target variable</a:t>
            </a:r>
            <a:endParaRPr lang="en-US" sz="2000" dirty="0"/>
          </a:p>
        </p:txBody>
      </p:sp>
      <p:sp>
        <p:nvSpPr>
          <p:cNvPr id="15" name="Content Placeholder 2"/>
          <p:cNvSpPr txBox="1">
            <a:spLocks/>
          </p:cNvSpPr>
          <p:nvPr/>
        </p:nvSpPr>
        <p:spPr>
          <a:xfrm>
            <a:off x="1142997" y="3590925"/>
            <a:ext cx="3935966" cy="24393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t>Based on missing value percentage:</a:t>
            </a:r>
          </a:p>
          <a:p>
            <a:r>
              <a:rPr lang="en-US" sz="1600" dirty="0" smtClean="0"/>
              <a:t>Less than 5% (</a:t>
            </a:r>
            <a:r>
              <a:rPr lang="en-US" sz="1600" b="1" dirty="0" err="1" smtClean="0"/>
              <a:t>ID_caller</a:t>
            </a:r>
            <a:r>
              <a:rPr lang="en-US" sz="1600" b="1" dirty="0" smtClean="0"/>
              <a:t>, </a:t>
            </a:r>
            <a:r>
              <a:rPr lang="en-US" sz="1600" b="1" dirty="0" err="1" smtClean="0"/>
              <a:t>opened_by</a:t>
            </a:r>
            <a:r>
              <a:rPr lang="en-US" sz="1600" b="1" dirty="0" smtClean="0"/>
              <a:t>, location, </a:t>
            </a:r>
            <a:r>
              <a:rPr lang="en-US" sz="1600" b="1" dirty="0" err="1" smtClean="0"/>
              <a:t>category_ID</a:t>
            </a:r>
            <a:r>
              <a:rPr lang="en-US" sz="1600" dirty="0" smtClean="0"/>
              <a:t>) : </a:t>
            </a:r>
            <a:r>
              <a:rPr lang="en-US" sz="1600" b="1" dirty="0" smtClean="0">
                <a:solidFill>
                  <a:srgbClr val="FF0000"/>
                </a:solidFill>
              </a:rPr>
              <a:t>mode imputation</a:t>
            </a:r>
          </a:p>
          <a:p>
            <a:r>
              <a:rPr lang="en-US" sz="1600" dirty="0" smtClean="0"/>
              <a:t>Between 5% and 40% (</a:t>
            </a:r>
            <a:r>
              <a:rPr lang="en-US" sz="1600" b="1" dirty="0" err="1" smtClean="0"/>
              <a:t>created_by</a:t>
            </a:r>
            <a:r>
              <a:rPr lang="en-US" sz="1600" b="1" dirty="0" smtClean="0"/>
              <a:t>, </a:t>
            </a:r>
            <a:r>
              <a:rPr lang="en-US" sz="1600" b="1" dirty="0" err="1" smtClean="0"/>
              <a:t>user_symptom</a:t>
            </a:r>
            <a:r>
              <a:rPr lang="en-US" sz="1600" b="1" dirty="0" smtClean="0"/>
              <a:t>, </a:t>
            </a:r>
            <a:r>
              <a:rPr lang="en-US" sz="1600" b="1" dirty="0" err="1" smtClean="0"/>
              <a:t>support_incharge</a:t>
            </a:r>
            <a:r>
              <a:rPr lang="en-US" sz="1600" dirty="0" smtClean="0"/>
              <a:t>): </a:t>
            </a:r>
            <a:r>
              <a:rPr lang="en-US" sz="1600" b="1" dirty="0" smtClean="0">
                <a:solidFill>
                  <a:srgbClr val="FF0000"/>
                </a:solidFill>
              </a:rPr>
              <a:t>special label  </a:t>
            </a:r>
            <a:endParaRPr lang="en-US" sz="1600" b="1" dirty="0" smtClean="0"/>
          </a:p>
          <a:p>
            <a:r>
              <a:rPr lang="en-US" sz="1600" dirty="0" smtClean="0"/>
              <a:t>Greater than 40% (</a:t>
            </a:r>
            <a:r>
              <a:rPr lang="en-US" sz="1600" b="1" dirty="0" err="1" smtClean="0"/>
              <a:t>problem_ID</a:t>
            </a:r>
            <a:r>
              <a:rPr lang="en-US" sz="1600" dirty="0" smtClean="0"/>
              <a:t>, </a:t>
            </a:r>
            <a:r>
              <a:rPr lang="en-US" sz="1600" b="1" dirty="0" err="1" smtClean="0"/>
              <a:t>change_request</a:t>
            </a:r>
            <a:r>
              <a:rPr lang="en-US" sz="1600" dirty="0" smtClean="0"/>
              <a:t>): </a:t>
            </a:r>
            <a:r>
              <a:rPr lang="en-US" sz="1600" b="1" dirty="0" smtClean="0">
                <a:solidFill>
                  <a:srgbClr val="FF0000"/>
                </a:solidFill>
              </a:rPr>
              <a:t>drop</a:t>
            </a:r>
            <a:endParaRPr lang="en-US" sz="1600" b="1" dirty="0">
              <a:solidFill>
                <a:srgbClr val="FF0000"/>
              </a:solidFill>
            </a:endParaRPr>
          </a:p>
        </p:txBody>
      </p:sp>
      <p:sp>
        <p:nvSpPr>
          <p:cNvPr id="17" name="TextBox 16"/>
          <p:cNvSpPr txBox="1"/>
          <p:nvPr/>
        </p:nvSpPr>
        <p:spPr>
          <a:xfrm>
            <a:off x="1068355" y="6203956"/>
            <a:ext cx="10641563" cy="530915"/>
          </a:xfrm>
          <a:prstGeom prst="rect">
            <a:avLst/>
          </a:prstGeom>
          <a:noFill/>
        </p:spPr>
        <p:txBody>
          <a:bodyPr wrap="square" rtlCol="0">
            <a:spAutoFit/>
          </a:bodyPr>
          <a:lstStyle/>
          <a:p>
            <a:r>
              <a:rPr lang="en-US" sz="1000" dirty="0" smtClean="0"/>
              <a:t>*We have split the data set into train and test set before starting our analysis and modeling. Therefore, the information that we present is from the training set. The missing value imputation and feature engineering on the test set has been based on the data from the training set</a:t>
            </a:r>
            <a:r>
              <a:rPr lang="en-US" dirty="0" smtClean="0"/>
              <a:t>.</a:t>
            </a:r>
            <a:endParaRPr lang="en-US" dirty="0"/>
          </a:p>
        </p:txBody>
      </p:sp>
    </p:spTree>
    <p:extLst>
      <p:ext uri="{BB962C8B-B14F-4D97-AF65-F5344CB8AC3E}">
        <p14:creationId xmlns:p14="http://schemas.microsoft.com/office/powerpoint/2010/main" val="1429161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49274"/>
          </a:xfrm>
        </p:spPr>
        <p:txBody>
          <a:bodyPr>
            <a:normAutofit fontScale="90000"/>
          </a:bodyPr>
          <a:lstStyle/>
          <a:p>
            <a:r>
              <a:rPr lang="en-US" dirty="0" smtClean="0"/>
              <a:t>3. Exploratory Data Analysis</a:t>
            </a:r>
            <a:endParaRPr lang="en-US" dirty="0"/>
          </a:p>
        </p:txBody>
      </p:sp>
      <p:sp>
        <p:nvSpPr>
          <p:cNvPr id="7" name="TextBox 6"/>
          <p:cNvSpPr txBox="1"/>
          <p:nvPr/>
        </p:nvSpPr>
        <p:spPr>
          <a:xfrm>
            <a:off x="6096000" y="990059"/>
            <a:ext cx="5054082" cy="369332"/>
          </a:xfrm>
          <a:prstGeom prst="rect">
            <a:avLst/>
          </a:prstGeom>
          <a:noFill/>
        </p:spPr>
        <p:txBody>
          <a:bodyPr wrap="square" rtlCol="0">
            <a:spAutoFit/>
          </a:bodyPr>
          <a:lstStyle/>
          <a:p>
            <a:r>
              <a:rPr lang="en-US" b="1" dirty="0" smtClean="0"/>
              <a:t>Feature engineering</a:t>
            </a:r>
            <a:endParaRPr lang="en-US" b="1" dirty="0"/>
          </a:p>
        </p:txBody>
      </p:sp>
      <p:sp>
        <p:nvSpPr>
          <p:cNvPr id="8" name="Content Placeholder 7"/>
          <p:cNvSpPr>
            <a:spLocks noGrp="1"/>
          </p:cNvSpPr>
          <p:nvPr>
            <p:ph idx="1"/>
          </p:nvPr>
        </p:nvSpPr>
        <p:spPr>
          <a:xfrm>
            <a:off x="6096000" y="3874953"/>
            <a:ext cx="5483290" cy="2628484"/>
          </a:xfrm>
        </p:spPr>
        <p:txBody>
          <a:bodyPr>
            <a:normAutofit/>
          </a:bodyPr>
          <a:lstStyle/>
          <a:p>
            <a:pPr marL="0" indent="0">
              <a:buNone/>
            </a:pPr>
            <a:r>
              <a:rPr lang="en-US" sz="1600" dirty="0" smtClean="0"/>
              <a:t>As the target label has 3 values (low, medium, high) – we have a multi classification problem. Because the low class has very few values, we can:</a:t>
            </a:r>
          </a:p>
          <a:p>
            <a:pPr marL="342900" indent="-342900">
              <a:buAutoNum type="arabicParenR"/>
            </a:pPr>
            <a:r>
              <a:rPr lang="en-US" sz="1600" dirty="0" smtClean="0"/>
              <a:t>Use a multi-classification approach OR</a:t>
            </a:r>
          </a:p>
          <a:p>
            <a:pPr marL="342900" indent="-342900">
              <a:buAutoNum type="arabicParenR"/>
            </a:pPr>
            <a:r>
              <a:rPr lang="en-US" sz="1600" b="1" dirty="0" smtClean="0"/>
              <a:t>We can regroup the low and medium classes into a single one and use a binary classification approach</a:t>
            </a:r>
          </a:p>
          <a:p>
            <a:pPr marL="0" indent="0">
              <a:buNone/>
            </a:pPr>
            <a:r>
              <a:rPr lang="en-US" sz="1600" dirty="0" smtClean="0"/>
              <a:t>Because of this particularity, we will follow the second approach.</a:t>
            </a:r>
          </a:p>
          <a:p>
            <a:pPr marL="0" indent="0">
              <a:buNone/>
            </a:pPr>
            <a:r>
              <a:rPr lang="en-US" sz="1600" dirty="0" smtClean="0"/>
              <a:t>We will not include in our model data t</a:t>
            </a:r>
            <a:endParaRPr lang="en-US" sz="1600" dirty="0"/>
          </a:p>
        </p:txBody>
      </p:sp>
      <p:sp>
        <p:nvSpPr>
          <p:cNvPr id="9" name="TextBox 8"/>
          <p:cNvSpPr txBox="1"/>
          <p:nvPr/>
        </p:nvSpPr>
        <p:spPr>
          <a:xfrm>
            <a:off x="286772" y="990059"/>
            <a:ext cx="5529310" cy="369332"/>
          </a:xfrm>
          <a:prstGeom prst="rect">
            <a:avLst/>
          </a:prstGeom>
          <a:noFill/>
        </p:spPr>
        <p:txBody>
          <a:bodyPr wrap="square" rtlCol="0">
            <a:spAutoFit/>
          </a:bodyPr>
          <a:lstStyle/>
          <a:p>
            <a:r>
              <a:rPr lang="en-US" dirty="0" smtClean="0"/>
              <a:t>Data Analysis - findings </a:t>
            </a:r>
            <a:endParaRPr lang="en-US" dirty="0"/>
          </a:p>
        </p:txBody>
      </p:sp>
      <p:sp>
        <p:nvSpPr>
          <p:cNvPr id="10" name="TextBox 9"/>
          <p:cNvSpPr txBox="1"/>
          <p:nvPr/>
        </p:nvSpPr>
        <p:spPr>
          <a:xfrm>
            <a:off x="6096000" y="3473218"/>
            <a:ext cx="5054082" cy="369332"/>
          </a:xfrm>
          <a:prstGeom prst="rect">
            <a:avLst/>
          </a:prstGeom>
          <a:noFill/>
        </p:spPr>
        <p:txBody>
          <a:bodyPr wrap="square" rtlCol="0">
            <a:spAutoFit/>
          </a:bodyPr>
          <a:lstStyle/>
          <a:p>
            <a:r>
              <a:rPr lang="en-US" b="1" dirty="0" smtClean="0"/>
              <a:t>Approach</a:t>
            </a:r>
            <a:endParaRPr lang="en-US" b="1" dirty="0"/>
          </a:p>
        </p:txBody>
      </p:sp>
      <p:sp>
        <p:nvSpPr>
          <p:cNvPr id="11" name="Content Placeholder 7"/>
          <p:cNvSpPr txBox="1">
            <a:spLocks/>
          </p:cNvSpPr>
          <p:nvPr/>
        </p:nvSpPr>
        <p:spPr>
          <a:xfrm>
            <a:off x="6096000" y="1353381"/>
            <a:ext cx="5483290" cy="21582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smtClean="0"/>
              <a:t>extracted from </a:t>
            </a:r>
            <a:r>
              <a:rPr lang="en-US" sz="1600" b="1" dirty="0" smtClean="0"/>
              <a:t>open time</a:t>
            </a:r>
            <a:r>
              <a:rPr lang="en-US" sz="1600" dirty="0" smtClean="0"/>
              <a:t>: </a:t>
            </a:r>
            <a:r>
              <a:rPr lang="en-US" sz="1600" i="1" dirty="0" smtClean="0"/>
              <a:t>month, day of week </a:t>
            </a:r>
            <a:r>
              <a:rPr lang="en-US" sz="1600" dirty="0" smtClean="0"/>
              <a:t>and </a:t>
            </a:r>
            <a:r>
              <a:rPr lang="en-US" sz="1600" i="1" dirty="0" smtClean="0"/>
              <a:t>hour of day</a:t>
            </a:r>
          </a:p>
          <a:p>
            <a:r>
              <a:rPr lang="en-US" sz="1600" dirty="0" smtClean="0"/>
              <a:t>encoded the </a:t>
            </a:r>
            <a:r>
              <a:rPr lang="en-US" sz="1600" dirty="0" err="1" smtClean="0"/>
              <a:t>boolean</a:t>
            </a:r>
            <a:r>
              <a:rPr lang="en-US" sz="1600" dirty="0" smtClean="0"/>
              <a:t> columns (</a:t>
            </a:r>
            <a:r>
              <a:rPr lang="en-US" sz="1600" b="1" dirty="0" smtClean="0"/>
              <a:t>active</a:t>
            </a:r>
            <a:r>
              <a:rPr lang="en-US" sz="1600" dirty="0" smtClean="0"/>
              <a:t>) with labels (False – 0, True – 1)</a:t>
            </a:r>
          </a:p>
          <a:p>
            <a:r>
              <a:rPr lang="en-US" sz="1600" dirty="0" smtClean="0"/>
              <a:t>One Hot Encoding for categorical variables (</a:t>
            </a:r>
            <a:r>
              <a:rPr lang="en-US" sz="1600" b="1" dirty="0" err="1" smtClean="0"/>
              <a:t>ID_status</a:t>
            </a:r>
            <a:r>
              <a:rPr lang="en-US" sz="1600" b="1" dirty="0" smtClean="0"/>
              <a:t>, location, </a:t>
            </a:r>
            <a:r>
              <a:rPr lang="en-US" sz="1600" b="1" dirty="0" err="1" smtClean="0"/>
              <a:t>user_symptom</a:t>
            </a:r>
            <a:r>
              <a:rPr lang="en-US" sz="1600" dirty="0" smtClean="0"/>
              <a:t>)</a:t>
            </a:r>
            <a:endParaRPr lang="en-US" sz="1600" dirty="0"/>
          </a:p>
          <a:p>
            <a:r>
              <a:rPr lang="en-US" sz="1600" dirty="0" smtClean="0"/>
              <a:t>The other variables have been dropped.</a:t>
            </a:r>
            <a:endParaRPr lang="en-US" sz="1600" dirty="0"/>
          </a:p>
        </p:txBody>
      </p:sp>
      <p:sp>
        <p:nvSpPr>
          <p:cNvPr id="15" name="Content Placeholder 7"/>
          <p:cNvSpPr txBox="1">
            <a:spLocks/>
          </p:cNvSpPr>
          <p:nvPr/>
        </p:nvSpPr>
        <p:spPr>
          <a:xfrm>
            <a:off x="332792" y="1435050"/>
            <a:ext cx="5483290" cy="39860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smtClean="0"/>
              <a:t>Incidents (all types) are more likely to occur:</a:t>
            </a:r>
          </a:p>
          <a:p>
            <a:pPr lvl="1"/>
            <a:r>
              <a:rPr lang="en-US" sz="1200" dirty="0" smtClean="0"/>
              <a:t> in the period march – may</a:t>
            </a:r>
          </a:p>
          <a:p>
            <a:pPr lvl="1"/>
            <a:r>
              <a:rPr lang="en-US" sz="1200" dirty="0"/>
              <a:t>i</a:t>
            </a:r>
            <a:r>
              <a:rPr lang="en-US" sz="1200" dirty="0" smtClean="0"/>
              <a:t>n the first four days of the week</a:t>
            </a:r>
          </a:p>
          <a:p>
            <a:pPr lvl="1"/>
            <a:r>
              <a:rPr lang="en-US" sz="1200" dirty="0" smtClean="0"/>
              <a:t>during the working hours (8-16) </a:t>
            </a:r>
          </a:p>
          <a:p>
            <a:pPr lvl="1"/>
            <a:r>
              <a:rPr lang="en-US" sz="1200" dirty="0" smtClean="0"/>
              <a:t>In Location 204, 161 and 143</a:t>
            </a:r>
          </a:p>
          <a:p>
            <a:pPr lvl="1"/>
            <a:r>
              <a:rPr lang="en-US" sz="1200" dirty="0" smtClean="0"/>
              <a:t>Under incident identifier ID INC0019396 and Caller 1904</a:t>
            </a:r>
          </a:p>
          <a:p>
            <a:r>
              <a:rPr lang="en-US" sz="1600" dirty="0" smtClean="0"/>
              <a:t>Most of the incidents (all types):</a:t>
            </a:r>
          </a:p>
          <a:p>
            <a:pPr lvl="1"/>
            <a:r>
              <a:rPr lang="en-US" sz="1200" dirty="0" smtClean="0"/>
              <a:t> were reported by identifier 17 (opened by 17) </a:t>
            </a:r>
          </a:p>
          <a:p>
            <a:pPr lvl="1"/>
            <a:r>
              <a:rPr lang="en-US" sz="1200" dirty="0" smtClean="0"/>
              <a:t> were registered by </a:t>
            </a:r>
            <a:r>
              <a:rPr lang="en-US" sz="1200" b="1" dirty="0" smtClean="0"/>
              <a:t>unidentified users </a:t>
            </a:r>
            <a:r>
              <a:rPr lang="en-US" sz="1200" dirty="0" smtClean="0"/>
              <a:t>(i.e. missing value) </a:t>
            </a:r>
          </a:p>
          <a:p>
            <a:pPr lvl="1"/>
            <a:r>
              <a:rPr lang="en-US" sz="1200" dirty="0" smtClean="0"/>
              <a:t>had the description 491 from the user (user symptom 491)</a:t>
            </a:r>
          </a:p>
          <a:p>
            <a:pPr lvl="1"/>
            <a:r>
              <a:rPr lang="en-US" sz="1200" dirty="0" smtClean="0"/>
              <a:t>had the category IDs either 46,26,53 or 42 (description </a:t>
            </a:r>
            <a:r>
              <a:rPr lang="en-US" sz="1200" dirty="0"/>
              <a:t>of the affected </a:t>
            </a:r>
            <a:r>
              <a:rPr lang="en-US" sz="1200" dirty="0" smtClean="0"/>
              <a:t>service)</a:t>
            </a:r>
          </a:p>
          <a:p>
            <a:pPr lvl="1"/>
            <a:r>
              <a:rPr lang="en-US" sz="1200" dirty="0"/>
              <a:t>h</a:t>
            </a:r>
            <a:r>
              <a:rPr lang="en-US" sz="1200" dirty="0" smtClean="0"/>
              <a:t>ad the identifier of the support group 70</a:t>
            </a:r>
          </a:p>
          <a:p>
            <a:pPr lvl="1"/>
            <a:r>
              <a:rPr lang="en-US" sz="1200" dirty="0"/>
              <a:t>h</a:t>
            </a:r>
            <a:r>
              <a:rPr lang="en-US" sz="1200" dirty="0" smtClean="0"/>
              <a:t>ad unidentified user in charge </a:t>
            </a:r>
          </a:p>
          <a:p>
            <a:pPr lvl="1"/>
            <a:r>
              <a:rPr lang="en-US" sz="1200" dirty="0" smtClean="0"/>
              <a:t>did not have a notification</a:t>
            </a:r>
          </a:p>
          <a:p>
            <a:pPr lvl="1"/>
            <a:r>
              <a:rPr lang="en-US" sz="1200" dirty="0"/>
              <a:t>d</a:t>
            </a:r>
            <a:r>
              <a:rPr lang="en-US" sz="1200" dirty="0" smtClean="0"/>
              <a:t>id not have document knowledge and confirmation check (were not double checked) indicators</a:t>
            </a:r>
            <a:endParaRPr lang="en-US" sz="1600" dirty="0"/>
          </a:p>
          <a:p>
            <a:endParaRPr lang="en-US" sz="1600" dirty="0" smtClean="0"/>
          </a:p>
          <a:p>
            <a:endParaRPr lang="en-US" sz="1600" dirty="0"/>
          </a:p>
        </p:txBody>
      </p:sp>
      <p:sp>
        <p:nvSpPr>
          <p:cNvPr id="17" name="Rectangle 2"/>
          <p:cNvSpPr>
            <a:spLocks noChangeArrowheads="1"/>
          </p:cNvSpPr>
          <p:nvPr/>
        </p:nvSpPr>
        <p:spPr bwMode="auto">
          <a:xfrm>
            <a:off x="152400" y="319444"/>
            <a:ext cx="22442" cy="1231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64753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93291"/>
          </a:xfrm>
        </p:spPr>
        <p:txBody>
          <a:bodyPr>
            <a:normAutofit fontScale="90000"/>
          </a:bodyPr>
          <a:lstStyle/>
          <a:p>
            <a:r>
              <a:rPr lang="en-US" dirty="0" smtClean="0"/>
              <a:t>4. Results</a:t>
            </a:r>
            <a:endParaRPr lang="en-US" dirty="0"/>
          </a:p>
        </p:txBody>
      </p:sp>
      <p:sp>
        <p:nvSpPr>
          <p:cNvPr id="4" name="TextBox 3"/>
          <p:cNvSpPr txBox="1"/>
          <p:nvPr/>
        </p:nvSpPr>
        <p:spPr>
          <a:xfrm>
            <a:off x="401216" y="4728401"/>
            <a:ext cx="6109996" cy="369332"/>
          </a:xfrm>
          <a:prstGeom prst="rect">
            <a:avLst/>
          </a:prstGeom>
          <a:noFill/>
        </p:spPr>
        <p:txBody>
          <a:bodyPr wrap="square" rtlCol="0">
            <a:spAutoFit/>
          </a:bodyPr>
          <a:lstStyle/>
          <a:p>
            <a:r>
              <a:rPr lang="en-US" b="1" dirty="0" smtClean="0"/>
              <a:t>Performance of the model*</a:t>
            </a:r>
            <a:endParaRPr lang="en-US" b="1" dirty="0"/>
          </a:p>
        </p:txBody>
      </p:sp>
      <p:sp>
        <p:nvSpPr>
          <p:cNvPr id="5" name="TextBox 4"/>
          <p:cNvSpPr txBox="1"/>
          <p:nvPr/>
        </p:nvSpPr>
        <p:spPr>
          <a:xfrm>
            <a:off x="6895324" y="1651400"/>
            <a:ext cx="5019868" cy="1754326"/>
          </a:xfrm>
          <a:prstGeom prst="rect">
            <a:avLst/>
          </a:prstGeom>
          <a:noFill/>
        </p:spPr>
        <p:txBody>
          <a:bodyPr wrap="square" rtlCol="0">
            <a:spAutoFit/>
          </a:bodyPr>
          <a:lstStyle/>
          <a:p>
            <a:r>
              <a:rPr lang="en-US" b="1" dirty="0" smtClean="0"/>
              <a:t>There is always room for improvement (performance and reducing overfitting):</a:t>
            </a:r>
          </a:p>
          <a:p>
            <a:pPr marL="285750" indent="-285750">
              <a:buFontTx/>
              <a:buChar char="-"/>
            </a:pPr>
            <a:r>
              <a:rPr lang="en-US" dirty="0" smtClean="0"/>
              <a:t>Try over- or under-sampling techniques to improve the model’s performance</a:t>
            </a:r>
          </a:p>
          <a:p>
            <a:pPr marL="285750" indent="-285750">
              <a:buFontTx/>
              <a:buChar char="-"/>
            </a:pPr>
            <a:r>
              <a:rPr lang="en-US" dirty="0" smtClean="0"/>
              <a:t>Modify the decision threshold for classification</a:t>
            </a:r>
          </a:p>
          <a:p>
            <a:pPr marL="285750" indent="-285750">
              <a:buFontTx/>
              <a:buChar char="-"/>
            </a:pPr>
            <a:r>
              <a:rPr lang="en-US" dirty="0" smtClean="0"/>
              <a:t>use other ML models</a:t>
            </a:r>
          </a:p>
        </p:txBody>
      </p:sp>
      <p:sp>
        <p:nvSpPr>
          <p:cNvPr id="16" name="TextBox 15"/>
          <p:cNvSpPr txBox="1"/>
          <p:nvPr/>
        </p:nvSpPr>
        <p:spPr>
          <a:xfrm>
            <a:off x="6830008" y="3389573"/>
            <a:ext cx="5019869" cy="3416320"/>
          </a:xfrm>
          <a:prstGeom prst="rect">
            <a:avLst/>
          </a:prstGeom>
          <a:noFill/>
        </p:spPr>
        <p:txBody>
          <a:bodyPr wrap="square" rtlCol="0">
            <a:spAutoFit/>
          </a:bodyPr>
          <a:lstStyle/>
          <a:p>
            <a:r>
              <a:rPr lang="en-US" b="1" dirty="0" smtClean="0"/>
              <a:t>Benefits of ML approach:</a:t>
            </a:r>
            <a:endParaRPr lang="en-US" dirty="0" smtClean="0"/>
          </a:p>
          <a:p>
            <a:r>
              <a:rPr lang="en-US" dirty="0" smtClean="0"/>
              <a:t>The </a:t>
            </a:r>
            <a:r>
              <a:rPr lang="en-US" dirty="0"/>
              <a:t>a</a:t>
            </a:r>
            <a:r>
              <a:rPr lang="en-US" dirty="0" smtClean="0"/>
              <a:t>utomatic assignment of the impact will:</a:t>
            </a:r>
          </a:p>
          <a:p>
            <a:pPr marL="742950" lvl="1" indent="-285750">
              <a:buFontTx/>
              <a:buChar char="-"/>
            </a:pPr>
            <a:r>
              <a:rPr lang="en-US" dirty="0" smtClean="0"/>
              <a:t>reduce the manual work (no more manual assignment of the incidents)</a:t>
            </a:r>
          </a:p>
          <a:p>
            <a:pPr marL="742950" lvl="1" indent="-285750">
              <a:buFontTx/>
              <a:buChar char="-"/>
            </a:pPr>
            <a:r>
              <a:rPr lang="en-US" dirty="0"/>
              <a:t>r</a:t>
            </a:r>
            <a:r>
              <a:rPr lang="en-US" dirty="0" smtClean="0"/>
              <a:t>educe the resolution time (the time spent on identifying the impact can be used to solve the issue)</a:t>
            </a:r>
          </a:p>
          <a:p>
            <a:pPr marL="742950" lvl="1" indent="-285750">
              <a:buFontTx/>
              <a:buChar char="-"/>
            </a:pPr>
            <a:r>
              <a:rPr lang="en-US" dirty="0" smtClean="0"/>
              <a:t>Improve the efficiency of the IT team overall (it can be possible to also assign a team/person automatically once the impact of the incident is established)</a:t>
            </a:r>
          </a:p>
          <a:p>
            <a:pPr marL="742950" lvl="1" indent="-285750">
              <a:buFontTx/>
              <a:buChar char="-"/>
            </a:pPr>
            <a:endParaRPr lang="en-US" dirty="0"/>
          </a:p>
        </p:txBody>
      </p:sp>
      <p:sp>
        <p:nvSpPr>
          <p:cNvPr id="19" name="TextBox 18"/>
          <p:cNvSpPr txBox="1"/>
          <p:nvPr/>
        </p:nvSpPr>
        <p:spPr>
          <a:xfrm>
            <a:off x="541174" y="954169"/>
            <a:ext cx="5859623" cy="646331"/>
          </a:xfrm>
          <a:prstGeom prst="rect">
            <a:avLst/>
          </a:prstGeom>
          <a:noFill/>
        </p:spPr>
        <p:txBody>
          <a:bodyPr wrap="square" rtlCol="0">
            <a:spAutoFit/>
          </a:bodyPr>
          <a:lstStyle/>
          <a:p>
            <a:r>
              <a:rPr lang="en-US" dirty="0" smtClean="0"/>
              <a:t>The model we used to predict the impact of the incidents was </a:t>
            </a:r>
            <a:r>
              <a:rPr lang="en-US" b="1" dirty="0" err="1" smtClean="0">
                <a:solidFill>
                  <a:srgbClr val="FF0000"/>
                </a:solidFill>
              </a:rPr>
              <a:t>XGBoost</a:t>
            </a:r>
            <a:r>
              <a:rPr lang="en-US" b="1" dirty="0" smtClean="0">
                <a:solidFill>
                  <a:srgbClr val="FF0000"/>
                </a:solidFill>
              </a:rPr>
              <a:t> Classifier</a:t>
            </a:r>
            <a:r>
              <a:rPr lang="en-US" dirty="0" smtClean="0"/>
              <a:t>.</a:t>
            </a:r>
          </a:p>
        </p:txBody>
      </p:sp>
      <p:sp>
        <p:nvSpPr>
          <p:cNvPr id="21" name="TextBox 20"/>
          <p:cNvSpPr txBox="1"/>
          <p:nvPr/>
        </p:nvSpPr>
        <p:spPr>
          <a:xfrm>
            <a:off x="401216" y="1531209"/>
            <a:ext cx="5859623" cy="369332"/>
          </a:xfrm>
          <a:prstGeom prst="rect">
            <a:avLst/>
          </a:prstGeom>
          <a:noFill/>
        </p:spPr>
        <p:txBody>
          <a:bodyPr wrap="square" rtlCol="0">
            <a:spAutoFit/>
          </a:bodyPr>
          <a:lstStyle/>
          <a:p>
            <a:r>
              <a:rPr lang="en-US" b="1" dirty="0" smtClean="0"/>
              <a:t>Top 20 most important features (out of 245)</a:t>
            </a:r>
            <a:endParaRPr lang="en-US" b="1" dirty="0"/>
          </a:p>
        </p:txBody>
      </p:sp>
      <p:pic>
        <p:nvPicPr>
          <p:cNvPr id="25" name="Picture 2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217" y="1875143"/>
            <a:ext cx="6428791" cy="2853258"/>
          </a:xfrm>
          <a:prstGeom prst="rect">
            <a:avLst/>
          </a:prstGeom>
        </p:spPr>
      </p:pic>
      <p:sp>
        <p:nvSpPr>
          <p:cNvPr id="27" name="TextBox 26"/>
          <p:cNvSpPr txBox="1"/>
          <p:nvPr/>
        </p:nvSpPr>
        <p:spPr>
          <a:xfrm>
            <a:off x="6895325" y="365125"/>
            <a:ext cx="4987210" cy="1446550"/>
          </a:xfrm>
          <a:prstGeom prst="rect">
            <a:avLst/>
          </a:prstGeom>
          <a:noFill/>
        </p:spPr>
        <p:txBody>
          <a:bodyPr wrap="square" rtlCol="0">
            <a:spAutoFit/>
          </a:bodyPr>
          <a:lstStyle/>
          <a:p>
            <a:r>
              <a:rPr lang="en-US" sz="1400" b="1" dirty="0" smtClean="0"/>
              <a:t>Interpretation</a:t>
            </a:r>
            <a:r>
              <a:rPr lang="en-US" sz="1400" dirty="0" smtClean="0"/>
              <a:t>:</a:t>
            </a:r>
          </a:p>
          <a:p>
            <a:pPr marL="285750" indent="-285750">
              <a:buFont typeface="Arial" panose="020B0604020202020204" pitchFamily="34" charset="0"/>
              <a:buChar char="•"/>
            </a:pPr>
            <a:r>
              <a:rPr lang="en-US" sz="1400" b="1" dirty="0" smtClean="0"/>
              <a:t>Precision</a:t>
            </a:r>
            <a:r>
              <a:rPr lang="en-US" sz="1400" dirty="0" smtClean="0"/>
              <a:t>: correctly classifies the incidents 82% of the time</a:t>
            </a:r>
          </a:p>
          <a:p>
            <a:pPr marL="285750" indent="-285750">
              <a:buFont typeface="Arial" panose="020B0604020202020204" pitchFamily="34" charset="0"/>
              <a:buChar char="•"/>
            </a:pPr>
            <a:r>
              <a:rPr lang="en-US" sz="1400" b="1" dirty="0" smtClean="0"/>
              <a:t>Recall</a:t>
            </a:r>
            <a:r>
              <a:rPr lang="en-US" sz="1400" dirty="0" smtClean="0"/>
              <a:t>: correctly classifies the not high incidents 82% of the time</a:t>
            </a:r>
          </a:p>
          <a:p>
            <a:pPr marL="285750" indent="-285750">
              <a:buFont typeface="Arial" panose="020B0604020202020204" pitchFamily="34" charset="0"/>
              <a:buChar char="•"/>
            </a:pPr>
            <a:r>
              <a:rPr lang="en-US" sz="1400" b="1" dirty="0" smtClean="0"/>
              <a:t>F1 score</a:t>
            </a:r>
            <a:r>
              <a:rPr lang="en-US" sz="1400" dirty="0" smtClean="0"/>
              <a:t>: is “accurate” 82% of the time</a:t>
            </a:r>
          </a:p>
          <a:p>
            <a:endParaRPr lang="en-US" dirty="0"/>
          </a:p>
        </p:txBody>
      </p:sp>
      <p:graphicFrame>
        <p:nvGraphicFramePr>
          <p:cNvPr id="29" name="Table 28"/>
          <p:cNvGraphicFramePr>
            <a:graphicFrameLocks noGrp="1"/>
          </p:cNvGraphicFramePr>
          <p:nvPr>
            <p:extLst>
              <p:ext uri="{D42A27DB-BD31-4B8C-83A1-F6EECF244321}">
                <p14:modId xmlns:p14="http://schemas.microsoft.com/office/powerpoint/2010/main" val="2130846485"/>
              </p:ext>
            </p:extLst>
          </p:nvPr>
        </p:nvGraphicFramePr>
        <p:xfrm>
          <a:off x="401216" y="5097733"/>
          <a:ext cx="6428792" cy="1097280"/>
        </p:xfrm>
        <a:graphic>
          <a:graphicData uri="http://schemas.openxmlformats.org/drawingml/2006/table">
            <a:tbl>
              <a:tblPr firstRow="1" bandRow="1">
                <a:tableStyleId>{5C22544A-7EE6-4342-B048-85BDC9FD1C3A}</a:tableStyleId>
              </a:tblPr>
              <a:tblGrid>
                <a:gridCol w="1607198">
                  <a:extLst>
                    <a:ext uri="{9D8B030D-6E8A-4147-A177-3AD203B41FA5}">
                      <a16:colId xmlns:a16="http://schemas.microsoft.com/office/drawing/2014/main" val="514027098"/>
                    </a:ext>
                  </a:extLst>
                </a:gridCol>
                <a:gridCol w="1607198">
                  <a:extLst>
                    <a:ext uri="{9D8B030D-6E8A-4147-A177-3AD203B41FA5}">
                      <a16:colId xmlns:a16="http://schemas.microsoft.com/office/drawing/2014/main" val="2958576648"/>
                    </a:ext>
                  </a:extLst>
                </a:gridCol>
                <a:gridCol w="1607198">
                  <a:extLst>
                    <a:ext uri="{9D8B030D-6E8A-4147-A177-3AD203B41FA5}">
                      <a16:colId xmlns:a16="http://schemas.microsoft.com/office/drawing/2014/main" val="1008871899"/>
                    </a:ext>
                  </a:extLst>
                </a:gridCol>
                <a:gridCol w="1607198">
                  <a:extLst>
                    <a:ext uri="{9D8B030D-6E8A-4147-A177-3AD203B41FA5}">
                      <a16:colId xmlns:a16="http://schemas.microsoft.com/office/drawing/2014/main" val="3345704911"/>
                    </a:ext>
                  </a:extLst>
                </a:gridCol>
              </a:tblGrid>
              <a:tr h="242267">
                <a:tc>
                  <a:txBody>
                    <a:bodyPr/>
                    <a:lstStyle/>
                    <a:p>
                      <a:endParaRPr lang="en-US" dirty="0"/>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c>
                  <a:txBody>
                    <a:bodyPr/>
                    <a:lstStyle/>
                    <a:p>
                      <a:r>
                        <a:rPr lang="en-US" dirty="0" smtClean="0"/>
                        <a:t>F1 score</a:t>
                      </a:r>
                      <a:endParaRPr lang="en-US" dirty="0"/>
                    </a:p>
                  </a:txBody>
                  <a:tcPr/>
                </a:tc>
                <a:extLst>
                  <a:ext uri="{0D108BD9-81ED-4DB2-BD59-A6C34878D82A}">
                    <a16:rowId xmlns:a16="http://schemas.microsoft.com/office/drawing/2014/main" val="3843683577"/>
                  </a:ext>
                </a:extLst>
              </a:tr>
              <a:tr h="245632">
                <a:tc>
                  <a:txBody>
                    <a:bodyPr/>
                    <a:lstStyle/>
                    <a:p>
                      <a:r>
                        <a:rPr lang="en-US" dirty="0" smtClean="0"/>
                        <a:t>Train</a:t>
                      </a:r>
                      <a:endParaRPr lang="en-US" dirty="0"/>
                    </a:p>
                  </a:txBody>
                  <a:tcPr/>
                </a:tc>
                <a:tc>
                  <a:txBody>
                    <a:bodyPr/>
                    <a:lstStyle/>
                    <a:p>
                      <a:r>
                        <a:rPr lang="en-US" dirty="0" smtClean="0"/>
                        <a:t>0.95</a:t>
                      </a:r>
                      <a:endParaRPr lang="en-US" dirty="0"/>
                    </a:p>
                  </a:txBody>
                  <a:tcPr/>
                </a:tc>
                <a:tc>
                  <a:txBody>
                    <a:bodyPr/>
                    <a:lstStyle/>
                    <a:p>
                      <a:r>
                        <a:rPr lang="en-US" dirty="0" smtClean="0"/>
                        <a:t>1</a:t>
                      </a:r>
                      <a:endParaRPr lang="en-US" dirty="0"/>
                    </a:p>
                  </a:txBody>
                  <a:tcPr/>
                </a:tc>
                <a:tc>
                  <a:txBody>
                    <a:bodyPr/>
                    <a:lstStyle/>
                    <a:p>
                      <a:r>
                        <a:rPr lang="en-US" dirty="0" smtClean="0"/>
                        <a:t>0.98</a:t>
                      </a:r>
                      <a:endParaRPr lang="en-US" dirty="0"/>
                    </a:p>
                  </a:txBody>
                  <a:tcPr/>
                </a:tc>
                <a:extLst>
                  <a:ext uri="{0D108BD9-81ED-4DB2-BD59-A6C34878D82A}">
                    <a16:rowId xmlns:a16="http://schemas.microsoft.com/office/drawing/2014/main" val="1338209616"/>
                  </a:ext>
                </a:extLst>
              </a:tr>
              <a:tr h="245632">
                <a:tc>
                  <a:txBody>
                    <a:bodyPr/>
                    <a:lstStyle/>
                    <a:p>
                      <a:r>
                        <a:rPr lang="en-US" dirty="0" smtClean="0"/>
                        <a:t>Test</a:t>
                      </a:r>
                      <a:endParaRPr lang="en-US" dirty="0"/>
                    </a:p>
                  </a:txBody>
                  <a:tcPr/>
                </a:tc>
                <a:tc>
                  <a:txBody>
                    <a:bodyPr/>
                    <a:lstStyle/>
                    <a:p>
                      <a:r>
                        <a:rPr lang="en-US" dirty="0" smtClean="0"/>
                        <a:t>0.82</a:t>
                      </a:r>
                      <a:endParaRPr lang="en-US" dirty="0"/>
                    </a:p>
                  </a:txBody>
                  <a:tcPr/>
                </a:tc>
                <a:tc>
                  <a:txBody>
                    <a:bodyPr/>
                    <a:lstStyle/>
                    <a:p>
                      <a:r>
                        <a:rPr lang="en-US" dirty="0" smtClean="0"/>
                        <a:t>0.82</a:t>
                      </a:r>
                      <a:endParaRPr lang="en-US" dirty="0"/>
                    </a:p>
                  </a:txBody>
                  <a:tcPr/>
                </a:tc>
                <a:tc>
                  <a:txBody>
                    <a:bodyPr/>
                    <a:lstStyle/>
                    <a:p>
                      <a:r>
                        <a:rPr lang="en-US" dirty="0" smtClean="0"/>
                        <a:t>0.82</a:t>
                      </a:r>
                      <a:endParaRPr lang="en-US" dirty="0"/>
                    </a:p>
                  </a:txBody>
                  <a:tcPr/>
                </a:tc>
                <a:extLst>
                  <a:ext uri="{0D108BD9-81ED-4DB2-BD59-A6C34878D82A}">
                    <a16:rowId xmlns:a16="http://schemas.microsoft.com/office/drawing/2014/main" val="1882365526"/>
                  </a:ext>
                </a:extLst>
              </a:tr>
            </a:tbl>
          </a:graphicData>
        </a:graphic>
      </p:graphicFrame>
      <p:sp>
        <p:nvSpPr>
          <p:cNvPr id="30" name="TextBox 29"/>
          <p:cNvSpPr txBox="1"/>
          <p:nvPr/>
        </p:nvSpPr>
        <p:spPr>
          <a:xfrm>
            <a:off x="401216" y="6258984"/>
            <a:ext cx="6494108" cy="400110"/>
          </a:xfrm>
          <a:prstGeom prst="rect">
            <a:avLst/>
          </a:prstGeom>
          <a:noFill/>
        </p:spPr>
        <p:txBody>
          <a:bodyPr wrap="square" rtlCol="0">
            <a:spAutoFit/>
          </a:bodyPr>
          <a:lstStyle/>
          <a:p>
            <a:r>
              <a:rPr lang="en-US" sz="1200" dirty="0" smtClean="0"/>
              <a:t>*</a:t>
            </a:r>
            <a:r>
              <a:rPr lang="en-US" sz="800" dirty="0" smtClean="0"/>
              <a:t>The metrics were calculated for the high </a:t>
            </a:r>
            <a:r>
              <a:rPr lang="en-US" sz="900" dirty="0" smtClean="0"/>
              <a:t>class</a:t>
            </a:r>
            <a:r>
              <a:rPr lang="en-US" sz="2000" dirty="0" smtClean="0"/>
              <a:t>.</a:t>
            </a:r>
            <a:endParaRPr lang="en-US" sz="2000" dirty="0"/>
          </a:p>
        </p:txBody>
      </p:sp>
    </p:spTree>
    <p:extLst>
      <p:ext uri="{BB962C8B-B14F-4D97-AF65-F5344CB8AC3E}">
        <p14:creationId xmlns:p14="http://schemas.microsoft.com/office/powerpoint/2010/main" val="339353061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2912</TotalTime>
  <Words>651</Words>
  <Application>Microsoft Office PowerPoint</Application>
  <PresentationFormat>Widescreen</PresentationFormat>
  <Paragraphs>75</Paragraphs>
  <Slides>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1. Case study goals</vt:lpstr>
      <vt:lpstr>3. Exploratory Data Analysis</vt:lpstr>
      <vt:lpstr>4.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Lenovo</cp:lastModifiedBy>
  <cp:revision>50</cp:revision>
  <dcterms:created xsi:type="dcterms:W3CDTF">2022-06-19T11:16:34Z</dcterms:created>
  <dcterms:modified xsi:type="dcterms:W3CDTF">2022-06-21T11:49:29Z</dcterms:modified>
</cp:coreProperties>
</file>